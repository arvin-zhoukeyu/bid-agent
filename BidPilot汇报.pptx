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封面。项目是个人可运行原型，所有业务数据均为合成样例，尚未经过真实企业生产验证。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截图来自用户提供的最新版 PPT 内嵌系统总览。数据为合成样例。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角色来自项目当前产品假设，真实企业中的法务和管理角色仍需用户访谈验证。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五个场景来自现有 Web 工作台和项目用户旅程。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数据采用用户在最新版 PPT 中修改后的 50 份文件、300 条人工标注要求。279 来自首要证据指标分母。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截图来自用户 PPT 的项目工作台。指标使用用户修改后的 262/279 和 4/34。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截图来自用户 PPT 的企业材料库。补件后重新检索不调用模型，草稿重新生成时才可能产生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截图来自用户 PPT 的标书初稿页面。Word 导出用于内部继续编辑，正式提交前仍需人工核验。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本页全部数据采用用户在最新版 PPT 中修改后的数字。离线评测不调用大模型。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FastAPI、Web 原型、本地 JSON、OpenAI 兼容接口和 DOCX 导出已实现。其他企业级能力属于规划。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当前没有完成多模型 A/B，也没有实现向量数据库。Embedding 和 Rerank 属于后续方案。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当前本地原型未实现用户鉴权和多租户隔离，因此不应处理真实敏感标书。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数据来自用户修改后的 PPT。93.0%、93.9%、81.3%和11.8%由页面中的原始分数计算并四舍五入到一位小数。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Embedding、Rerank、字段级校验、OCR 和真实用户实验均为后续规划，尚未在当前版本实现。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A998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95325" y="1844675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BidPilot</a:t>
            </a:r>
            <a:endParaRPr sz="40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2493010"/>
            <a:ext cx="102870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投标响应辅助 Agent</a:t>
            </a:r>
            <a:endParaRPr sz="39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445125"/>
            <a:ext cx="9334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  /  产品方案  /  Agent 设计  /  评测迭代</a:t>
            </a:r>
            <a:endParaRPr sz="157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0" y="59626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r">
              <a:defRPr sz="120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周柯宇</a:t>
            </a:r>
            <a:endParaRPr sz="120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项目定位与业务问题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面向投标专员的响应辅助工作台，核心目标是减少漏项和无依据承诺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38900" y="1771650"/>
            <a:ext cx="5076825" cy="3200400"/>
          </a:xfrm>
          <a:prstGeom prst="rect">
            <a:avLst/>
          </a:prstGeom>
          <a:noFill/>
          <a:ln w="9525">
            <a:solidFill>
              <a:srgbClr val="22C7D8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952" y="1809750"/>
            <a:ext cx="4998720" cy="31242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52450" y="175260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业务背景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552450" y="2047875"/>
            <a:ext cx="53816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1526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162175"/>
            <a:ext cx="51530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招标文件篇幅长，资格、技术和商务条款分散在正文与附件中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24479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457450"/>
            <a:ext cx="51530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企业资质、案例和服务方案分别保存在多个文件，复用成本高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16230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产品定位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52450" y="3457575"/>
            <a:ext cx="53816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5623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571875"/>
            <a:ext cx="51530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建立“要求、证据、响应”三层关系，所有结论都能回到原文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38576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3867150"/>
            <a:ext cx="51530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材料不足时直接暴露缺口，正式承诺仍由业务人员确认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57200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项目范围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52450" y="4867275"/>
            <a:ext cx="53816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49720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4981575"/>
            <a:ext cx="51530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覆盖文件解析、要求抽取、证据核验、补件、生成、复核和评测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2673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5276850"/>
            <a:ext cx="51530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当前为单机原型，未实现 OCR、多租户、RBAC 和生产审计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53200" y="52578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核心用户：投标专员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53200" y="55626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20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协作角色：售前、技术负责人、商务负责人</a:t>
            </a:r>
            <a:endParaRPr sz="120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用户角色与决策链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主用户完成初筛与编制，协作角色在高风险节点确认边界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752600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392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857500" y="1752600"/>
            <a:ext cx="1457325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392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429125" y="1752600"/>
            <a:ext cx="2981325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392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主要任务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524750" y="1752600"/>
            <a:ext cx="3933825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392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当前痛点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552450" y="2066925"/>
            <a:ext cx="11020425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3241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投标专员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57500" y="2324100"/>
            <a:ext cx="14573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主用户</a:t>
            </a:r>
            <a:endParaRPr sz="12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29125" y="2324100"/>
            <a:ext cx="29813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拆条款、找材料、汇总初稿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24750" y="2324100"/>
            <a:ext cx="39338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重复整理，容易漏掉附加条件</a:t>
            </a:r>
            <a:endParaRPr sz="127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52450" y="2952750"/>
            <a:ext cx="110204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1623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售前 / 技术负责人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57500" y="3162300"/>
            <a:ext cx="14573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协作者</a:t>
            </a:r>
            <a:endParaRPr sz="12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29125" y="3162300"/>
            <a:ext cx="29813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确认技术方案与服务承诺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24750" y="3162300"/>
            <a:ext cx="39338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上下文分散，响应依据难追溯</a:t>
            </a:r>
            <a:endParaRPr sz="127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552450" y="3790950"/>
            <a:ext cx="110204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40005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商务负责人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000500"/>
            <a:ext cx="14573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审批者</a:t>
            </a:r>
            <a:endParaRPr sz="12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29125" y="4000500"/>
            <a:ext cx="29813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确认报价、合同和交付条件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24750" y="4000500"/>
            <a:ext cx="39338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需要快速看到缺口与责任人</a:t>
            </a:r>
            <a:endParaRPr sz="127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52450" y="4629150"/>
            <a:ext cx="110204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48387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部门负责人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857500" y="4838700"/>
            <a:ext cx="14573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决策者</a:t>
            </a:r>
            <a:endParaRPr sz="12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29125" y="4838700"/>
            <a:ext cx="29813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判断是否投标及整体风险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24750" y="4838700"/>
            <a:ext cx="39338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缺少统一的项目全貌</a:t>
            </a:r>
            <a:endParaRPr sz="127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52450" y="5467350"/>
            <a:ext cx="110204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五个核心业务场景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从文件进入、证据判断到质量复盘，形成完整工作闭环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57350"/>
            <a:ext cx="18764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524125" y="1657350"/>
            <a:ext cx="29337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需求痛点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72125" y="1657350"/>
            <a:ext cx="31718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方案亮点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58250" y="1657350"/>
            <a:ext cx="26479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关键输出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533400" y="1981200"/>
            <a:ext cx="1108710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2143125"/>
            <a:ext cx="18764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新建项目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24125" y="2143125"/>
            <a:ext cx="29337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长文件难拆解，关键要求可能遗漏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72125" y="2143125"/>
            <a:ext cx="31718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文件解析、LLM/规则抽取、原文校验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858250" y="2143125"/>
            <a:ext cx="26479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结构化要求清单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33400" y="2743200"/>
            <a:ext cx="110871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33400" y="2924175"/>
            <a:ext cx="18764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证据核验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524125" y="2924175"/>
            <a:ext cx="29337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语义相似不代表条件满足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72125" y="2924175"/>
            <a:ext cx="31718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材料检索、字段校验、状态判断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858250" y="2924175"/>
            <a:ext cx="26479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证据与缺口状态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533400" y="3524250"/>
            <a:ext cx="110871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3705225"/>
            <a:ext cx="18764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材料补充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524125" y="3705225"/>
            <a:ext cx="29337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缺口发现后需要重复查找和重做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572125" y="3705225"/>
            <a:ext cx="31718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从条款补件、重新检索、草稿失效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58250" y="3705225"/>
            <a:ext cx="26479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更新后的状态与待办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33400" y="4305300"/>
            <a:ext cx="110871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4486275"/>
            <a:ext cx="18764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标书生成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524125" y="4486275"/>
            <a:ext cx="29337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重复写作耗时，模型可能编造承诺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72125" y="4486275"/>
            <a:ext cx="31718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证据约束生成、十章结构、Word 导出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58250" y="4486275"/>
            <a:ext cx="26479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可继续编辑的内部初稿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33400" y="5086350"/>
            <a:ext cx="110871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33400" y="5267325"/>
            <a:ext cx="18764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效果评测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524125" y="5267325"/>
            <a:ext cx="29337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系统好坏缺少统一判断口径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572125" y="5267325"/>
            <a:ext cx="31718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固定测试集、Bad Case、Token 记录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858250" y="5267325"/>
            <a:ext cx="26479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质量指标与迭代优先级</a:t>
            </a:r>
            <a:endParaRPr sz="116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533400" y="5867400"/>
            <a:ext cx="110871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矩形 45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场景一：新建项目与要求抽取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先保证每条要求可以回到招标原文，再进入证据核验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733550"/>
            <a:ext cx="514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需求痛点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2028825"/>
            <a:ext cx="51435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1336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143125"/>
            <a:ext cx="4914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招标文件包含正文、表格和附件，人工拆条款容易遗漏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4288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438400"/>
            <a:ext cx="4914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长文本直接交给模型后，返回内容可能无法定位原文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3067050"/>
            <a:ext cx="514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方案亮点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52450" y="3362325"/>
            <a:ext cx="51435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4671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476625"/>
            <a:ext cx="4914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支持可复制文字的 TXT、PDF 和 DOCX，保留原始文件与行号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7623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771900"/>
            <a:ext cx="4914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模型按固定 JSON Schema 输出要求、类别、引文和原文位置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40576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067175"/>
            <a:ext cx="4914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后端校验行号与引文，无法对应原文的结果直接丢弃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3529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4362450"/>
            <a:ext cx="4914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模型失败时自动回退离线规则，并在页面提示原因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4857750"/>
            <a:ext cx="514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实现效果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552450" y="5153025"/>
            <a:ext cx="51435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2578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5267325"/>
            <a:ext cx="4914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固定评测范围扩展到 50 份招标文件、300 条人工标注要求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55530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5562600"/>
            <a:ext cx="4914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279 条要求进入首要证据一致性评测口径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477000" y="175260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952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处理流程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0" y="2228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162800" y="22288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 algn="l">
              <a:def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上传文件</a:t>
            </a:r>
            <a:endParaRPr sz="142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62800" y="251460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格式校验与文本读取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724650" y="2657475"/>
            <a:ext cx="0" cy="352425"/>
          </a:xfrm>
          <a:prstGeom prst="line">
            <a:avLst/>
          </a:prstGeom>
          <a:noFill/>
          <a:ln w="19050">
            <a:solidFill>
              <a:srgbClr val="40515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477000" y="3095625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162800" y="30956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 algn="l">
              <a:def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解析分块</a:t>
            </a:r>
            <a:endParaRPr sz="142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62800" y="3381375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长文本分块并保留行号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724650" y="3524250"/>
            <a:ext cx="0" cy="352425"/>
          </a:xfrm>
          <a:prstGeom prst="line">
            <a:avLst/>
          </a:prstGeom>
          <a:noFill/>
          <a:ln w="19050">
            <a:solidFill>
              <a:srgbClr val="40515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477000" y="39624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162800" y="39624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 algn="l">
              <a:def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要求抽取</a:t>
            </a:r>
            <a:endParaRPr sz="142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162800" y="42481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模型或离线规则输出结构化结果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6724650" y="4391025"/>
            <a:ext cx="0" cy="352425"/>
          </a:xfrm>
          <a:prstGeom prst="line">
            <a:avLst/>
          </a:prstGeom>
          <a:noFill/>
          <a:ln w="19050">
            <a:solidFill>
              <a:srgbClr val="40515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77000" y="4829175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162800" y="48291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 algn="l">
              <a:def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原文校验</a:t>
            </a:r>
            <a:endParaRPr sz="142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162800" y="5114925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验证引文与位置后进入项目工作台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477000" y="576262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当前边界：扫描件 OCR、复杂表格和跨页条款仍属于下一阶段能力</a:t>
            </a:r>
            <a:endParaRPr sz="1165" b="0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场景二：证据核验与材料缺口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系统同时展示要求原文、判断状态和企业材料，方便人工复核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67640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需求痛点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197167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0764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8597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找到相似材料不等于满足招标条件，数量、等级和时限可能不符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3717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38125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人工在多份材料间反复切换，判断依据难以追溯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308610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方案亮点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52450" y="338137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4861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49567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先召回候选材料，再用类别、数字、等级和有效期规则校验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7814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79095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最终状态由代码业务规则判断，LLM 不直接决定是否满足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40767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08622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页面显示原文、判断理由和首要证据，保留人工审核状态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76250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实现效果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52450" y="505777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1625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517207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262 / 279 条要求的首要证据与人工标注一致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4578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546735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34 条被错误判为“有依据”，作为优先风险指标持续优化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19900" y="1714500"/>
            <a:ext cx="4838700" cy="3057525"/>
          </a:xfrm>
          <a:prstGeom prst="rect">
            <a:avLst/>
          </a:prstGeom>
          <a:noFill/>
          <a:ln w="9525">
            <a:solidFill>
              <a:srgbClr val="22C7D8"/>
            </a:solidFill>
            <a:prstDash val="solid"/>
          </a:ln>
        </p:spPr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54981"/>
            <a:ext cx="4762500" cy="2976563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6858000" y="5000625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示例：要求不少于 3 个案例，现有材料只证明 2 个，系统标记“材料缺口”</a:t>
            </a:r>
            <a:endParaRPr sz="120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0" y="56388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状态：有依据  /  待确认  /  材料缺口  /  待跟进</a:t>
            </a:r>
            <a:endParaRPr sz="12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场景三：材料补充闭环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从具体缺口补充企业材料，重新计算状态并阻止旧草稿继续使用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67640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需求痛点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197167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0764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8597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发现缺口后，材料补充和条款复核通常分散在不同工具中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3717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38125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新材料加入后，旧判断和旧草稿容易被继续使用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308610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方案亮点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52450" y="338137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4861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49567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用户从条款详情直接上传证书、案例或服务说明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7814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79095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系统沿用已提取条款重新检索和判断，不重复调用抽取模型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40767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08622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状态或证据变化后自动清除旧草稿，要求重新生成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3719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438150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招标文件不会进入企业材料库，也不能作为投标企业证明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01015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实现效果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552450" y="530542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4102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541972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补件、状态更新和草稿失效形成可复现的闭环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57054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571500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重新检索不增加模型 Token，重新生成草稿才产生新调用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19900" y="1714500"/>
            <a:ext cx="4838700" cy="3057525"/>
          </a:xfrm>
          <a:prstGeom prst="rect">
            <a:avLst/>
          </a:prstGeom>
          <a:noFill/>
          <a:ln w="9525">
            <a:solidFill>
              <a:srgbClr val="22C7D8"/>
            </a:solidFill>
            <a:prstDash val="solid"/>
          </a:ln>
        </p:spPr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54981"/>
            <a:ext cx="4762500" cy="2976563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6858000" y="5010150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材料库按资质、案例、产品方案和模板集中管理，可打开全文核对</a:t>
            </a:r>
            <a:endParaRPr sz="120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0" y="56578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当前限制：未实现材料版本、过期提醒和多人权限</a:t>
            </a:r>
            <a:endParaRPr sz="1200" b="0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场景四：标书生成与 Word 导出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在证据约束下生成正式结构的内部初稿，缺失信息保留【待补充】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67640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需求痛点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197167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0764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8597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投标人员需要反复复制要求、材料和方案，初稿编制耗时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3717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38125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纯大模型写作容易新增金额、人员、资质或 SLA 承诺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308610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方案亮点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52450" y="338137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4861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49567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只向模型提供状态为“有依据”的企业证据和招标原文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7814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79095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生成项目概述、技术服务、实施、团队、质量等十章结构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40767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08622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要求响应表逐条覆盖，非支持条款统一保留【待补充】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3719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438150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生成后执行数字集合校验，报价缺失时禁止自行生成金额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01015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实现效果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552450" y="5305425"/>
            <a:ext cx="58102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4102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5419725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形成可继续编辑的 Word 初稿、响应表和材料缺口清单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57054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5715000"/>
            <a:ext cx="55816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用户在导出前查看缺口、待确认和未审核数量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19900" y="1714500"/>
            <a:ext cx="4838700" cy="3057525"/>
          </a:xfrm>
          <a:prstGeom prst="rect">
            <a:avLst/>
          </a:prstGeom>
          <a:noFill/>
          <a:ln w="9525">
            <a:solidFill>
              <a:srgbClr val="22C7D8"/>
            </a:solidFill>
            <a:prstDash val="solid"/>
          </a:ln>
        </p:spPr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54981"/>
            <a:ext cx="4762500" cy="2976563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6858000" y="5010150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输出包含 10 个章节，并保留引用材料和待人工处理事项</a:t>
            </a:r>
            <a:endParaRPr sz="120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0" y="56578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安全约束：不新增金额、资质、人员和服务时限承诺</a:t>
            </a:r>
            <a:endParaRPr sz="1200" b="1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矩形 39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场景五：效果评测与成本观测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固定测试集定位错误环节，Token 记录支持后续质量与成本权衡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6954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需求痛点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1990725"/>
            <a:ext cx="5334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0955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10502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只看生成文本是否流畅，无法判断要求是否漏提、证据是否正确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3907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40030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模型调用成本和延迟缺少项目级记录，难以估算 ROI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31432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方案亮点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52450" y="3438525"/>
            <a:ext cx="5334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5433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55282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固定运行 50 份文件、300 条人工标注要求，保证版本可对比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8385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84810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按抽取、证据、状态和草稿保护拆分指标并输出 Bad Case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413385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14337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单独记录真实 API 的输入、输出、总 Token 和响应耗时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4291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443865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离线评测不调用模型，避免质量指标与 Token 数据混淆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0482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/>
          <a:p>
            <a:pPr algn="l">
              <a:def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实现效果</a:t>
            </a:r>
            <a:endParaRPr sz="15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552450" y="5343525"/>
            <a:ext cx="5334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54483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545782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端到端正确响应 244 / 300，覆盖抽取、证据、状态与草稿保护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57435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575310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错误支持 4 / 34，首要证据一致 262 / 279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72250" y="17621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评测口径</a:t>
            </a:r>
            <a:endParaRPr sz="16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72250" y="2238375"/>
            <a:ext cx="4095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244 / 300</a:t>
            </a:r>
            <a:endParaRPr sz="25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72250" y="27622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端到端正确响应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6572250" y="3133725"/>
            <a:ext cx="46196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72250" y="3381375"/>
            <a:ext cx="4095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34</a:t>
            </a:r>
            <a:endParaRPr sz="2550" b="1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572250" y="39052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错误判为有依据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6572250" y="4276725"/>
            <a:ext cx="46196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572250" y="4524375"/>
            <a:ext cx="4095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63B3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63B3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262 / 279</a:t>
            </a:r>
            <a:endParaRPr sz="2550" b="1">
              <a:solidFill>
                <a:srgbClr val="63B3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572250" y="50482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首要证据与人工标注一致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6572250" y="5419725"/>
            <a:ext cx="46196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572250" y="581025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不是质量指标，需要与正确率、延迟和人工工时一起分析</a:t>
            </a:r>
            <a:endParaRPr sz="116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Loop 与系统架构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模型负责非结构化理解和语言生成，本地工具负责检索、判断和安全校验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2095500"/>
            <a:ext cx="1571625" cy="1524000"/>
          </a:xfrm>
          <a:prstGeom prst="rect">
            <a:avLst/>
          </a:prstGeom>
          <a:solidFill>
            <a:srgbClr val="202D36"/>
          </a:solidFill>
          <a:ln w="9525">
            <a:solidFill>
              <a:srgbClr val="40515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305050"/>
            <a:ext cx="1228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762250"/>
            <a:ext cx="12287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招标文件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企业材料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152650" y="2619375"/>
            <a:ext cx="2667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62"/>
          </a:bodyPr>
          <a:lstStyle/>
          <a:p>
            <a:pPr algn="ctr">
              <a:def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250" b="0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419350" y="2095500"/>
            <a:ext cx="1571625" cy="1524000"/>
          </a:xfrm>
          <a:prstGeom prst="rect">
            <a:avLst/>
          </a:prstGeom>
          <a:solidFill>
            <a:srgbClr val="202D36"/>
          </a:solidFill>
          <a:ln w="9525">
            <a:solidFill>
              <a:srgbClr val="40515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590800" y="2305050"/>
            <a:ext cx="1228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90800" y="2762250"/>
            <a:ext cx="12287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要求抽取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原文定位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19550" y="2619375"/>
            <a:ext cx="2667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62"/>
          </a:bodyPr>
          <a:lstStyle/>
          <a:p>
            <a:pPr algn="ctr">
              <a:def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250" b="0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86250" y="2095500"/>
            <a:ext cx="1571625" cy="1524000"/>
          </a:xfrm>
          <a:prstGeom prst="rect">
            <a:avLst/>
          </a:prstGeom>
          <a:solidFill>
            <a:srgbClr val="202D36"/>
          </a:solidFill>
          <a:ln w="9525">
            <a:solidFill>
              <a:srgbClr val="40515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57700" y="2305050"/>
            <a:ext cx="1228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57700" y="2762250"/>
            <a:ext cx="12287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材料检索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状态判断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886450" y="2619375"/>
            <a:ext cx="2667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62"/>
          </a:bodyPr>
          <a:lstStyle/>
          <a:p>
            <a:pPr algn="ctr">
              <a:def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250" b="0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53150" y="2095500"/>
            <a:ext cx="1571625" cy="1524000"/>
          </a:xfrm>
          <a:prstGeom prst="rect">
            <a:avLst/>
          </a:prstGeom>
          <a:solidFill>
            <a:srgbClr val="202D36"/>
          </a:solidFill>
          <a:ln w="9525">
            <a:solidFill>
              <a:srgbClr val="40515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24600" y="2305050"/>
            <a:ext cx="1228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24600" y="2762250"/>
            <a:ext cx="12287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章节生成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逐条响应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753350" y="2619375"/>
            <a:ext cx="2667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62"/>
          </a:bodyPr>
          <a:lstStyle/>
          <a:p>
            <a:pPr algn="ctr">
              <a:def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250" b="0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20050" y="2095500"/>
            <a:ext cx="1571625" cy="1524000"/>
          </a:xfrm>
          <a:prstGeom prst="rect">
            <a:avLst/>
          </a:prstGeom>
          <a:solidFill>
            <a:srgbClr val="202D36"/>
          </a:solidFill>
          <a:ln w="9525">
            <a:solidFill>
              <a:srgbClr val="40515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91500" y="2305050"/>
            <a:ext cx="1228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91500" y="2762250"/>
            <a:ext cx="12287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数字集合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风险标记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620250" y="2619375"/>
            <a:ext cx="2667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62"/>
          </a:bodyPr>
          <a:lstStyle/>
          <a:p>
            <a:pPr algn="ctr">
              <a:def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250" b="0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886950" y="2095500"/>
            <a:ext cx="1571625" cy="1524000"/>
          </a:xfrm>
          <a:prstGeom prst="rect">
            <a:avLst/>
          </a:prstGeom>
          <a:solidFill>
            <a:srgbClr val="3A292A"/>
          </a:solidFill>
          <a:ln w="9525">
            <a:solidFill>
              <a:srgbClr val="F1786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058400" y="2305050"/>
            <a:ext cx="1228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</a:t>
            </a:r>
            <a:endParaRPr sz="1500" b="1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058400" y="2762250"/>
            <a:ext cx="12287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审核确认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 导出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52450" y="4095750"/>
            <a:ext cx="1106805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44005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def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接口与交付</a:t>
            </a:r>
            <a:endParaRPr sz="150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52450" y="48577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705100" y="48577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工作台</a:t>
            </a:r>
            <a:endParaRPr sz="135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857750" y="48577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JSON 状态</a:t>
            </a:r>
            <a:endParaRPr sz="135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010400" y="48577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兼容接口</a:t>
            </a:r>
            <a:endParaRPr sz="135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163050" y="48577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DOCX 导出</a:t>
            </a:r>
            <a:endParaRPr sz="135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模型、Prompt 与检索策略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先建立可解释基线，再用同一标注集验证升级方案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552450" y="1809750"/>
            <a:ext cx="514350" cy="0"/>
          </a:xfrm>
          <a:prstGeom prst="line">
            <a:avLst/>
          </a:prstGeom>
          <a:noFill/>
          <a:ln w="28575">
            <a:solidFill>
              <a:srgbClr val="22C7D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03835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模型选型</a:t>
            </a:r>
            <a:endParaRPr sz="16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5908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qwen3.5-plus-2026-04-20</a:t>
            </a:r>
            <a:endParaRPr sz="15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34385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448050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固定模型快照，便于后续重复评测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38481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857625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31"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关注中文文本、结构化输出、上下文和成本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42576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4267200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已跑通抽取、批量生成和 Word 导出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333875" y="1809750"/>
            <a:ext cx="514350" cy="0"/>
          </a:xfrm>
          <a:prstGeom prst="line">
            <a:avLst/>
          </a:prstGeom>
          <a:noFill/>
          <a:ln w="28575">
            <a:solidFill>
              <a:srgbClr val="22C7D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333875" y="203835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工程</a:t>
            </a:r>
            <a:endParaRPr sz="16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33875" y="25908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要求抽取 + 标书生成</a:t>
            </a:r>
            <a:endParaRPr sz="15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33875" y="34385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62475" y="3448050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抽取必须返回真实行号与原文引文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333875" y="38481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62475" y="3857625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生成必须遵循十章结构和证据边界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333875" y="42576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62475" y="4267200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材料不足统一标记【待补充】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8115300" y="1809750"/>
            <a:ext cx="514350" cy="0"/>
          </a:xfrm>
          <a:prstGeom prst="line">
            <a:avLst/>
          </a:prstGeom>
          <a:noFill/>
          <a:ln w="28575">
            <a:solidFill>
              <a:srgbClr val="22C7D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15300" y="203835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当前检索</a:t>
            </a:r>
            <a:endParaRPr sz="16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15300" y="25908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中文二/三元词重叠 + 规则排序</a:t>
            </a:r>
            <a:endParaRPr sz="15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15300" y="343852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43900" y="3448050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当前不是 Embedding 向量 RAG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15300" y="384810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43900" y="3857625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轻量方案便于离线复现和解释错例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115300" y="4257675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10000"/>
          </a:bodyPr>
          <a:lstStyle/>
          <a:p>
            <a:pPr algn="l">
              <a:def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31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43900" y="4267200"/>
            <a:ext cx="30099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31"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材料规模扩大后再验证混合召回与 Rerank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552450" y="5143500"/>
            <a:ext cx="10829925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52450" y="54292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 algn="l">
              <a:defRPr sz="142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下一步验证</a:t>
            </a:r>
            <a:endParaRPr sz="142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095500" y="5391150"/>
            <a:ext cx="9144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同一标注集比较规则 Baseline、模型抽取、Embedding 召回与 Rerank，同时衡量正确率、延迟和 Token 成本</a:t>
            </a:r>
            <a:endParaRPr sz="135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安全边界与人工审核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系统负责初筛和草稿，企业事实与正式承诺仍由业务人员确认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695450"/>
            <a:ext cx="2314575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926"/>
          </a:bodyPr>
          <a:lstStyle/>
          <a:p>
            <a:pPr algn="l">
              <a:def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endParaRPr sz="13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000375" y="1695450"/>
            <a:ext cx="3057525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926"/>
          </a:bodyPr>
          <a:lstStyle/>
          <a:p>
            <a:pPr algn="l">
              <a:def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业务后果</a:t>
            </a:r>
            <a:endParaRPr sz="13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191250" y="1695450"/>
            <a:ext cx="52768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926"/>
          </a:bodyPr>
          <a:lstStyle/>
          <a:p>
            <a:pPr algn="l">
              <a:def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产品控制</a:t>
            </a:r>
            <a:endParaRPr sz="13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552450" y="2019300"/>
            <a:ext cx="1104900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209800"/>
            <a:ext cx="23145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错误引用材料</a:t>
            </a:r>
            <a:endParaRPr sz="1275" b="1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00375" y="2209800"/>
            <a:ext cx="30575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招标要求与企业事实混淆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0" y="2209800"/>
            <a:ext cx="5276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过滤疑似招标文件，证据只能来自企业材料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52450" y="2781300"/>
            <a:ext cx="11049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2990850"/>
            <a:ext cx="23145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无依据完全响应</a:t>
            </a:r>
            <a:endParaRPr sz="1275" b="1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00375" y="2990850"/>
            <a:ext cx="30575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材料不足仍生成承诺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2990850"/>
            <a:ext cx="5276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缺口优先，状态限制为完全响应、待确认、材料缺失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52450" y="3562350"/>
            <a:ext cx="11049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3771900"/>
            <a:ext cx="23145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数字与报价幻觉</a:t>
            </a:r>
            <a:endParaRPr sz="1275" b="1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000375" y="3771900"/>
            <a:ext cx="30575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模型新增金额或 SLA 时限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0" y="3771900"/>
            <a:ext cx="5276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数字集合校验，报价缺失时固定【待补充】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52450" y="4343400"/>
            <a:ext cx="11049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4552950"/>
            <a:ext cx="23145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模型不可用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000375" y="4552950"/>
            <a:ext cx="30575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超时或 JSON 解析失败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91250" y="4552950"/>
            <a:ext cx="5276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回退离线规则，并在页面显示失败原因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52450" y="5124450"/>
            <a:ext cx="11049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5334000"/>
            <a:ext cx="23145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材料版本风险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000375" y="5334000"/>
            <a:ext cx="30575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证书过期或原件不一致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91250" y="5334000"/>
            <a:ext cx="5276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保留有效期和原文摘录，提交前人工核验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52450" y="5905500"/>
            <a:ext cx="11049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评测设计与当前结果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端到端指标同时约束要求提取、证据匹配、状态判断和草稿保护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9050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要求进入证据评测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143250" y="1924050"/>
            <a:ext cx="5429250" cy="209550"/>
          </a:xfrm>
          <a:prstGeom prst="rect">
            <a:avLst/>
          </a:prstGeom>
          <a:solidFill>
            <a:srgbClr val="2A3942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143250" y="1924050"/>
            <a:ext cx="5049203" cy="209550"/>
          </a:xfrm>
          <a:prstGeom prst="rect">
            <a:avLst/>
          </a:prstGeom>
          <a:solidFill>
            <a:srgbClr val="22C7D8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0" y="186690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93.0%</a:t>
            </a:r>
            <a:endParaRPr sz="16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01250" y="18669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279 / 300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8194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首要证据一致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43250" y="2838450"/>
            <a:ext cx="5429250" cy="209550"/>
          </a:xfrm>
          <a:prstGeom prst="rect">
            <a:avLst/>
          </a:prstGeom>
          <a:solidFill>
            <a:srgbClr val="2A394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2838450"/>
            <a:ext cx="5098066" cy="209550"/>
          </a:xfrm>
          <a:prstGeom prst="rect">
            <a:avLst/>
          </a:prstGeom>
          <a:solidFill>
            <a:srgbClr val="63B3ED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63000" y="278130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63B3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63B3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93.9%</a:t>
            </a:r>
            <a:endParaRPr sz="1650" b="1">
              <a:solidFill>
                <a:srgbClr val="63B3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001250" y="27813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262 / 279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7338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端到端正确响应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43250" y="3752850"/>
            <a:ext cx="5429250" cy="209550"/>
          </a:xfrm>
          <a:prstGeom prst="rect">
            <a:avLst/>
          </a:prstGeom>
          <a:solidFill>
            <a:srgbClr val="2A3942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143250" y="3752850"/>
            <a:ext cx="4413980" cy="209550"/>
          </a:xfrm>
          <a:prstGeom prst="rect">
            <a:avLst/>
          </a:prstGeom>
          <a:solidFill>
            <a:srgbClr val="19A998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369570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19A9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9A9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81.3%</a:t>
            </a:r>
            <a:endParaRPr sz="1650" b="1">
              <a:solidFill>
                <a:srgbClr val="19A9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01250" y="36957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244 / 300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46482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错误判为有依据</a:t>
            </a:r>
            <a:endParaRPr sz="127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143250" y="4667250"/>
            <a:ext cx="5429250" cy="209550"/>
          </a:xfrm>
          <a:prstGeom prst="rect">
            <a:avLst/>
          </a:prstGeom>
          <a:solidFill>
            <a:srgbClr val="2A3942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4667250"/>
            <a:ext cx="640652" cy="209550"/>
          </a:xfrm>
          <a:prstGeom prst="rect">
            <a:avLst/>
          </a:prstGeom>
          <a:solidFill>
            <a:srgbClr val="F1786D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63000" y="461010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/>
          <a:p>
            <a:pPr algn="l">
              <a:defRPr sz="1650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11.8%</a:t>
            </a:r>
            <a:endParaRPr sz="1650" b="1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001250" y="46101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34</a:t>
            </a:r>
            <a:endParaRPr sz="135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552450" y="5667375"/>
            <a:ext cx="110490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58674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评测范围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809750" y="5867400"/>
            <a:ext cx="3905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588"/>
          </a:bodyPr>
          <a:lstStyle/>
          <a:p>
            <a:pPr algn="l">
              <a:def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份招标文件，300 条人工标注要求</a:t>
            </a:r>
            <a:endParaRPr sz="1275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905500" y="5810250"/>
            <a:ext cx="5476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17"/>
          </a:bodyPr>
          <a:lstStyle/>
          <a:p>
            <a:pPr algn="l">
              <a:defRPr sz="112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分母随指标变化：300 为全部要求，279 为进入证据评测的要求，34 为系统判为有依据的要求</a:t>
            </a:r>
            <a:endParaRPr sz="1125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533400" y="2857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7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1104900" y="428625"/>
            <a:ext cx="476250" cy="0"/>
          </a:xfrm>
          <a:prstGeom prst="line">
            <a:avLst/>
          </a:prstGeom>
          <a:noFill/>
          <a:ln w="19050">
            <a:solidFill>
              <a:srgbClr val="22C7D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Bad Case 与迭代路线</a:t>
            </a:r>
            <a:endParaRPr sz="2700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287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错误集中在长文本结构、复合条件核验和证据排序</a:t>
            </a:r>
            <a:endParaRPr sz="135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8478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 algn="l">
              <a:defRPr sz="1425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425" b="1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90625" y="18478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长文本遗漏</a:t>
            </a:r>
            <a:endParaRPr sz="142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333750" y="1847850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中文序号、无编号条款和跨行要求可能漏提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77125" y="1847850"/>
            <a:ext cx="3857625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结构化切片、表格解析、页码定位与 OCR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552450" y="2628900"/>
            <a:ext cx="109728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9908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 algn="l">
              <a:defRPr sz="142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42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90625" y="29908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复杂条件误判</a:t>
            </a:r>
            <a:endParaRPr sz="142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33750" y="2990850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主关键词命中后，驻场人数和恢复时限未完整核验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77125" y="2990850"/>
            <a:ext cx="3857625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数量、日期、证书和 SLA 字段级校验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52450" y="3771900"/>
            <a:ext cx="109728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41338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 algn="l">
              <a:defRPr sz="142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425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90625" y="41338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证据错配</a:t>
            </a:r>
            <a:endParaRPr sz="1425" b="1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33750" y="4133850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A9B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关键词相似但证明力不足的材料排在首位</a:t>
            </a:r>
            <a:endParaRPr sz="1240" b="0">
              <a:solidFill>
                <a:srgbClr val="A9B8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77125" y="4133850"/>
            <a:ext cx="3857625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关键词与 Embedding 混合召回，再用 Rerank 重排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552450" y="4914900"/>
            <a:ext cx="10972800" cy="0"/>
          </a:xfrm>
          <a:prstGeom prst="line">
            <a:avLst/>
          </a:prstGeom>
          <a:noFill/>
          <a:ln w="9525">
            <a:solidFill>
              <a:srgbClr val="40515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53340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926"/>
          </a:bodyPr>
          <a:lstStyle/>
          <a:p>
            <a:pPr algn="l">
              <a:def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验证顺序</a:t>
            </a:r>
            <a:endParaRPr sz="13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00250" y="52578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81250" y="5257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扩展固定测试集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333875" y="52578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714875" y="5257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同一任务 A/B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67500" y="52578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048500" y="5257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授权样本人工复核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001125" y="52578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C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>
              <a:solidFill>
                <a:srgbClr val="22C7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382125" y="5257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F4F7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计时与 ROI 验证</a:t>
            </a:r>
            <a:endParaRPr sz="1240" b="0">
              <a:solidFill>
                <a:srgbClr val="F4F7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5943600"/>
            <a:ext cx="895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200" b="0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F178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当前仍缺少真实用户访谈和人工工时对照实验，效率收益只作为待验证目标</a:t>
            </a:r>
            <a:endParaRPr sz="1200" b="0">
              <a:solidFill>
                <a:srgbClr val="F178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858500" y="65151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28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14</a:t>
            </a:r>
            <a:endParaRPr sz="825" b="0">
              <a:solidFill>
                <a:srgbClr val="728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3731</Words>
  <Application>WPS 演示</Application>
  <PresentationFormat>Converted Presentation</PresentationFormat>
  <Paragraphs>690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刘申学霸</cp:lastModifiedBy>
  <cp:revision>2</cp:revision>
  <dcterms:created xsi:type="dcterms:W3CDTF">2026-10-01T15:00:00Z</dcterms:created>
  <dcterms:modified xsi:type="dcterms:W3CDTF">2026-10-03T05:29:45Z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B08C1AC3714E48A2B5997FB32A93AF79_12</vt:lpwstr>
  </property>
</Properties>
</file>